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Basis33" panose="020B0604020202020204" charset="0"/>
      <p:regular r:id="rId10"/>
    </p:embeddedFont>
    <p:embeddedFont>
      <p:font typeface="Cristik" panose="02000503000000000000" charset="0"/>
      <p:regular r:id="rId11"/>
    </p:embeddedFont>
    <p:embeddedFont>
      <p:font typeface="Retropix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7433" autoAdjust="0"/>
  </p:normalViewPr>
  <p:slideViewPr>
    <p:cSldViewPr>
      <p:cViewPr varScale="1">
        <p:scale>
          <a:sx n="48" d="100"/>
          <a:sy n="48" d="100"/>
        </p:scale>
        <p:origin x="109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362653" y="214811"/>
            <a:ext cx="7562695" cy="91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TITLE PAGE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007776"/>
            <a:ext cx="15887700" cy="5197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6794"/>
              </a:lnSpc>
              <a:buFont typeface="Wingdings" panose="05000000000000000000" pitchFamily="2" charset="2"/>
              <a:buChar char="q"/>
            </a:pPr>
            <a:r>
              <a:rPr lang="en-US" sz="5400" dirty="0">
                <a:solidFill>
                  <a:schemeClr val="bg1"/>
                </a:solidFill>
                <a:sym typeface="Basis33"/>
              </a:rPr>
              <a:t>Problem Statement ID: ED004</a:t>
            </a:r>
          </a:p>
          <a:p>
            <a:pPr marL="457200" indent="-457200">
              <a:lnSpc>
                <a:spcPts val="6794"/>
              </a:lnSpc>
              <a:buFont typeface="Wingdings" panose="05000000000000000000" pitchFamily="2" charset="2"/>
              <a:buChar char="q"/>
            </a:pPr>
            <a:r>
              <a:rPr lang="en-US" sz="5400" dirty="0">
                <a:solidFill>
                  <a:schemeClr val="bg1"/>
                </a:solidFill>
                <a:sym typeface="Basis33"/>
              </a:rPr>
              <a:t>Problem Statement Title : Smart </a:t>
            </a:r>
            <a:r>
              <a:rPr lang="en-IN" sz="5400" dirty="0">
                <a:solidFill>
                  <a:schemeClr val="bg1"/>
                </a:solidFill>
                <a:sym typeface="Basis33"/>
              </a:rPr>
              <a:t>Assessment &amp; Anti-Cheating System </a:t>
            </a:r>
            <a:endParaRPr lang="en-US" sz="5400" dirty="0">
              <a:solidFill>
                <a:schemeClr val="bg1"/>
              </a:solidFill>
              <a:sym typeface="Basis33"/>
            </a:endParaRPr>
          </a:p>
          <a:p>
            <a:pPr marL="457200" indent="-457200">
              <a:lnSpc>
                <a:spcPts val="6794"/>
              </a:lnSpc>
              <a:buFont typeface="Wingdings" panose="05000000000000000000" pitchFamily="2" charset="2"/>
              <a:buChar char="q"/>
            </a:pPr>
            <a:r>
              <a:rPr lang="en-US" sz="5400">
                <a:solidFill>
                  <a:schemeClr val="bg1"/>
                </a:solidFill>
                <a:sym typeface="Basis33"/>
              </a:rPr>
              <a:t>Domain : EdTech</a:t>
            </a:r>
            <a:endParaRPr lang="en-US" sz="5400" dirty="0">
              <a:solidFill>
                <a:schemeClr val="bg1"/>
              </a:solidFill>
              <a:sym typeface="Basis33"/>
            </a:endParaRPr>
          </a:p>
          <a:p>
            <a:pPr marL="457200" indent="-457200">
              <a:lnSpc>
                <a:spcPts val="6794"/>
              </a:lnSpc>
              <a:buFont typeface="Wingdings" panose="05000000000000000000" pitchFamily="2" charset="2"/>
              <a:buChar char="q"/>
            </a:pPr>
            <a:r>
              <a:rPr lang="en-US" sz="5400" dirty="0">
                <a:solidFill>
                  <a:schemeClr val="bg1"/>
                </a:solidFill>
                <a:sym typeface="Basis33"/>
              </a:rPr>
              <a:t>Team Name : Dolce far niente</a:t>
            </a:r>
          </a:p>
          <a:p>
            <a:pPr marL="457200" indent="-457200">
              <a:lnSpc>
                <a:spcPts val="6794"/>
              </a:lnSpc>
              <a:buFont typeface="Wingdings" panose="05000000000000000000" pitchFamily="2" charset="2"/>
              <a:buChar char="q"/>
            </a:pPr>
            <a:r>
              <a:rPr lang="en-US" sz="5400" dirty="0">
                <a:solidFill>
                  <a:schemeClr val="bg1"/>
                </a:solidFill>
                <a:sym typeface="Basis33"/>
              </a:rPr>
              <a:t>Team Leader Name : Shivraj </a:t>
            </a:r>
            <a:r>
              <a:rPr lang="en-US" sz="5400" dirty="0" err="1">
                <a:solidFill>
                  <a:schemeClr val="bg1"/>
                </a:solidFill>
                <a:sym typeface="Basis33"/>
              </a:rPr>
              <a:t>Iranna</a:t>
            </a:r>
            <a:r>
              <a:rPr lang="en-US" sz="5400" dirty="0">
                <a:solidFill>
                  <a:schemeClr val="bg1"/>
                </a:solidFill>
                <a:sym typeface="Basis33"/>
              </a:rPr>
              <a:t> Talwar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362653" y="214811"/>
            <a:ext cx="7562695" cy="91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Idea/Approach Details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0653" y="2384128"/>
            <a:ext cx="16274533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ts val="5574"/>
              </a:lnSpc>
              <a:buFont typeface="Wingdings" panose="05000000000000000000" pitchFamily="2" charset="2"/>
              <a:buChar char="v"/>
            </a:pPr>
            <a:r>
              <a:rPr lang="en-US" sz="4800" dirty="0">
                <a:solidFill>
                  <a:srgbClr val="20F15C"/>
                </a:solidFill>
                <a:latin typeface="Retropix"/>
                <a:ea typeface="Retropix"/>
                <a:cs typeface="Retropix"/>
                <a:sym typeface="Retropix"/>
              </a:rPr>
              <a:t>PROPOSED SOLUTION : </a:t>
            </a:r>
          </a:p>
        </p:txBody>
      </p:sp>
      <p:sp>
        <p:nvSpPr>
          <p:cNvPr id="2" name="Rectangle 1"/>
          <p:cNvSpPr/>
          <p:nvPr/>
        </p:nvSpPr>
        <p:spPr>
          <a:xfrm>
            <a:off x="790653" y="3619500"/>
            <a:ext cx="9144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Growth of online platforms has increased cheating and impersonation issues.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Existing systems rely on basic webcam monitoring and manual invigilation.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Proposed AI-based system ensures secure and fair online examinations.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Uses video, audio, behavioral, and system-level monitoring</a:t>
            </a:r>
          </a:p>
          <a:p>
            <a:pPr>
              <a:buNone/>
            </a:pPr>
            <a:r>
              <a:rPr lang="en-US" sz="2800" dirty="0">
                <a:solidFill>
                  <a:schemeClr val="bg1"/>
                </a:solidFill>
              </a:rPr>
              <a:t>      Integrates identity verification, continuous proctoring.           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 The system is Accurate, Scalable, cost-effective, and works with standard webcams and microphones.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It can be effectively used for online Examinations, Interviews, Assessments, and Secure virtual sessions.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4653" y="2878635"/>
            <a:ext cx="7438947" cy="56938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362653" y="214811"/>
            <a:ext cx="7562695" cy="91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Process flow diagram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2171" y="3493412"/>
            <a:ext cx="6399679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Student logs into the exam portal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Identity verification using face detection &amp; ID scan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System checks camera, microphone, browser lockdown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360-degree room scan before exam starts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Continuous monitoring (video, audio, behavior, system)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AI flags suspicious activity in real time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Exam data stored securely for review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Result &amp; report generation</a:t>
            </a:r>
          </a:p>
        </p:txBody>
      </p:sp>
      <p:pic>
        <p:nvPicPr>
          <p:cNvPr id="13" name="Picture 12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146290" y="2400300"/>
            <a:ext cx="5350510" cy="7010399"/>
          </a:xfrm>
          <a:prstGeom prst="rect">
            <a:avLst/>
          </a:prstGeom>
        </p:spPr>
      </p:pic>
      <p:pic>
        <p:nvPicPr>
          <p:cNvPr id="14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6800" y="2400301"/>
            <a:ext cx="5350510" cy="701039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DB4A4D-6B4F-6060-D245-E4692971D604}"/>
              </a:ext>
            </a:extLst>
          </p:cNvPr>
          <p:cNvSpPr txBox="1"/>
          <p:nvPr/>
        </p:nvSpPr>
        <p:spPr>
          <a:xfrm>
            <a:off x="1066800" y="2247900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800" dirty="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Flow CHART  : </a:t>
            </a:r>
            <a:endParaRPr lang="en-IN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362653" y="214811"/>
            <a:ext cx="7562695" cy="91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Methodology used</a:t>
            </a:r>
          </a:p>
        </p:txBody>
      </p:sp>
      <p:sp>
        <p:nvSpPr>
          <p:cNvPr id="2" name="Rectangle 1"/>
          <p:cNvSpPr/>
          <p:nvPr/>
        </p:nvSpPr>
        <p:spPr>
          <a:xfrm>
            <a:off x="685800" y="4229100"/>
            <a:ext cx="767602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Computer Vision</a:t>
            </a:r>
            <a:r>
              <a:rPr lang="en-IN" sz="2800" dirty="0">
                <a:solidFill>
                  <a:schemeClr val="bg1"/>
                </a:solidFill>
              </a:rPr>
              <a:t> for face detection, mobile detection, background monitoring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Audio Signal Processing</a:t>
            </a:r>
            <a:r>
              <a:rPr lang="en-IN" sz="2800" dirty="0">
                <a:solidFill>
                  <a:schemeClr val="bg1"/>
                </a:solidFill>
              </a:rPr>
              <a:t> for whisper and dual-voice detection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 err="1">
                <a:solidFill>
                  <a:schemeClr val="bg1"/>
                </a:solidFill>
              </a:rPr>
              <a:t>Behaviral</a:t>
            </a:r>
            <a:r>
              <a:rPr lang="en-IN" sz="2800" b="1" dirty="0">
                <a:solidFill>
                  <a:schemeClr val="bg1"/>
                </a:solidFill>
              </a:rPr>
              <a:t> Pattern Analysis</a:t>
            </a:r>
            <a:r>
              <a:rPr lang="en-IN" sz="2800" dirty="0">
                <a:solidFill>
                  <a:schemeClr val="bg1"/>
                </a:solidFill>
              </a:rPr>
              <a:t> for eye tracking, head pose, body posture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Browser &amp; System Lockdown</a:t>
            </a:r>
            <a:r>
              <a:rPr lang="en-IN" sz="2800" dirty="0">
                <a:solidFill>
                  <a:schemeClr val="bg1"/>
                </a:solidFill>
              </a:rPr>
              <a:t> to prevent tab switching, copy-paste, VM usage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AI-based Anomaly Detection</a:t>
            </a:r>
            <a:r>
              <a:rPr lang="en-IN" sz="2800" dirty="0">
                <a:solidFill>
                  <a:schemeClr val="bg1"/>
                </a:solidFill>
              </a:rPr>
              <a:t> to flag suspicious actions automatically</a:t>
            </a:r>
          </a:p>
          <a:p>
            <a:pPr>
              <a:buFont typeface="Arial" panose="020B0604020202020204" pitchFamily="34" charset="0"/>
              <a:buChar char="•"/>
            </a:pPr>
            <a:endParaRPr lang="zh-CN" altLang="en-US" sz="2800" dirty="0"/>
          </a:p>
          <a:p>
            <a:endParaRPr lang="zh-CN" alt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8342779" y="4229100"/>
            <a:ext cx="438262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FFFF"/>
                </a:solidFill>
              </a:rPr>
              <a:t>Ensures exam integrity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FFFF"/>
                </a:solidFill>
              </a:rPr>
              <a:t>Real-time cheating detection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FFFF"/>
                </a:solidFill>
              </a:rPr>
              <a:t>Accurate identity verification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FFFF"/>
                </a:solidFill>
              </a:rPr>
              <a:t>Remote exam support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FFFF"/>
                </a:solidFill>
              </a:rPr>
              <a:t>Automatic grading &amp; reports</a:t>
            </a:r>
          </a:p>
        </p:txBody>
      </p:sp>
      <p:pic>
        <p:nvPicPr>
          <p:cNvPr id="6" name="Picture 2" descr="Design of face detection and recognition system monitor students during  online examinations using Machine Learning algorithms - Final Year Projec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24826" y="2324100"/>
            <a:ext cx="5610774" cy="7010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EC19CA-7731-857A-E0D3-A81C8901AEA7}"/>
              </a:ext>
            </a:extLst>
          </p:cNvPr>
          <p:cNvSpPr txBox="1"/>
          <p:nvPr/>
        </p:nvSpPr>
        <p:spPr>
          <a:xfrm>
            <a:off x="0" y="2518470"/>
            <a:ext cx="9144000" cy="765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ctr">
              <a:lnSpc>
                <a:spcPts val="7000"/>
              </a:lnSpc>
              <a:buFont typeface="Wingdings" panose="05000000000000000000" pitchFamily="2" charset="2"/>
              <a:buChar char="v"/>
            </a:pPr>
            <a:r>
              <a:rPr lang="en-US" sz="4800" dirty="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Methodology /working 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446623" y="214811"/>
            <a:ext cx="10023653" cy="91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Solution Concept &amp; Feasibility</a:t>
            </a:r>
          </a:p>
        </p:txBody>
      </p:sp>
      <p:sp>
        <p:nvSpPr>
          <p:cNvPr id="2" name="Rectangle 1"/>
          <p:cNvSpPr/>
          <p:nvPr/>
        </p:nvSpPr>
        <p:spPr>
          <a:xfrm>
            <a:off x="782171" y="3848100"/>
            <a:ext cx="805702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The concept is to create a </a:t>
            </a:r>
            <a:r>
              <a:rPr lang="en-US" sz="2800" b="1" dirty="0">
                <a:solidFill>
                  <a:schemeClr val="bg1"/>
                </a:solidFill>
              </a:rPr>
              <a:t>multi-layered AI proctoring system</a:t>
            </a:r>
            <a:r>
              <a:rPr lang="en-US" sz="2800" dirty="0">
                <a:solidFill>
                  <a:schemeClr val="bg1"/>
                </a:solidFill>
              </a:rPr>
              <a:t> that goes beyond basic webcam monitoring by combining </a:t>
            </a:r>
            <a:r>
              <a:rPr lang="en-US" sz="2800" b="1" dirty="0">
                <a:solidFill>
                  <a:schemeClr val="bg1"/>
                </a:solidFill>
              </a:rPr>
              <a:t>visual, audio, behavioral, and system-level security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Uses existing webcams, microphones, and browsers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No special hardware required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Platform feasible: Works on online platforms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Can be implemented for colleges, universities, and exam platforms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bg1"/>
                </a:solidFill>
              </a:rPr>
              <a:t>Scalable and cost-effective using cloud infrastructure</a:t>
            </a:r>
          </a:p>
        </p:txBody>
      </p:sp>
      <p:pic>
        <p:nvPicPr>
          <p:cNvPr id="5" name="Picture 2" descr="Online Exam Proctoring System Based on Artificial Intelligence - Final Year  Projec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458449" y="2705100"/>
            <a:ext cx="8372351" cy="65481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F91964-278A-9B8E-0E9F-15A4B1138955}"/>
              </a:ext>
            </a:extLst>
          </p:cNvPr>
          <p:cNvSpPr txBox="1"/>
          <p:nvPr/>
        </p:nvSpPr>
        <p:spPr>
          <a:xfrm>
            <a:off x="1447800" y="2705100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800" dirty="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Solution :</a:t>
            </a:r>
            <a:endParaRPr lang="en-IN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846626" y="214811"/>
            <a:ext cx="8594747" cy="91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  <a:spcBef>
                <a:spcPct val="0"/>
              </a:spcBef>
            </a:pPr>
            <a:r>
              <a:rPr lang="en-US" sz="5000" u="none" strike="noStrike" dirty="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Use cases &amp; description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782171" y="3595340"/>
            <a:ext cx="7980829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</a:rPr>
              <a:t>Use Case 1: College Online Exams</a:t>
            </a:r>
          </a:p>
          <a:p>
            <a:pPr>
              <a:buNone/>
            </a:pPr>
            <a:r>
              <a:rPr lang="en-US" sz="2800" dirty="0">
                <a:solidFill>
                  <a:schemeClr val="bg1"/>
                </a:solidFill>
              </a:rPr>
              <a:t>Ensures fair exams during internal assessments and semester exams.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</a:rPr>
              <a:t>Use Case 2: Certification Platforms</a:t>
            </a:r>
          </a:p>
          <a:p>
            <a:pPr>
              <a:buNone/>
            </a:pPr>
            <a:r>
              <a:rPr lang="en-US" sz="2800" dirty="0">
                <a:solidFill>
                  <a:schemeClr val="bg1"/>
                </a:solidFill>
              </a:rPr>
              <a:t>Prevents impersonation and cheating in skill-based online tests.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</a:rPr>
              <a:t>Use Case 3: Remote Recruitment Tests</a:t>
            </a:r>
          </a:p>
          <a:p>
            <a:pPr>
              <a:buNone/>
            </a:pPr>
            <a:r>
              <a:rPr lang="en-US" sz="2800" dirty="0">
                <a:solidFill>
                  <a:schemeClr val="bg1"/>
                </a:solidFill>
              </a:rPr>
              <a:t>Maintains integrity during online aptitude and technical interviews.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bg1"/>
                </a:solidFill>
              </a:rPr>
              <a:t>Use Case 4: </a:t>
            </a:r>
            <a:r>
              <a:rPr lang="en-US" sz="2800" dirty="0">
                <a:solidFill>
                  <a:schemeClr val="bg1"/>
                </a:solidFill>
              </a:rPr>
              <a:t>The Virtual Machine </a:t>
            </a:r>
            <a:r>
              <a:rPr lang="en-US" sz="2800" dirty="0" err="1">
                <a:solidFill>
                  <a:schemeClr val="bg1"/>
                </a:solidFill>
              </a:rPr>
              <a:t>Sandox</a:t>
            </a:r>
            <a:r>
              <a:rPr lang="en-US" sz="2800" dirty="0">
                <a:solidFill>
                  <a:schemeClr val="bg1"/>
                </a:solidFill>
              </a:rPr>
              <a:t> Attack: Monitoring runs in a virtual environment while cheating occurs on the host system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bg1"/>
              </a:solidFill>
            </a:endParaRPr>
          </a:p>
          <a:p>
            <a:pPr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2896430"/>
            <a:ext cx="8534400" cy="6124754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262075-2C88-0CD6-15AA-526C8C7FF189}"/>
              </a:ext>
            </a:extLst>
          </p:cNvPr>
          <p:cNvSpPr txBox="1"/>
          <p:nvPr/>
        </p:nvSpPr>
        <p:spPr>
          <a:xfrm>
            <a:off x="1295400" y="2604042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none" strike="noStrike" dirty="0">
                <a:solidFill>
                  <a:srgbClr val="00FF48"/>
                </a:solidFill>
                <a:latin typeface="Cristik" panose="02000503000000000000" charset="0"/>
                <a:ea typeface="Cristik"/>
                <a:cs typeface="Cristik"/>
                <a:sym typeface="Cristik"/>
              </a:rPr>
              <a:t>Use cases : </a:t>
            </a:r>
            <a:endParaRPr lang="en-IN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846626" y="214811"/>
            <a:ext cx="8594747" cy="91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Technology stack used</a:t>
            </a:r>
          </a:p>
        </p:txBody>
      </p:sp>
      <p:sp>
        <p:nvSpPr>
          <p:cNvPr id="2" name="Rectangle 1"/>
          <p:cNvSpPr/>
          <p:nvPr/>
        </p:nvSpPr>
        <p:spPr>
          <a:xfrm>
            <a:off x="782171" y="3826174"/>
            <a:ext cx="615202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</a:rPr>
              <a:t>Frontend: React , Tailwind </a:t>
            </a:r>
            <a:r>
              <a:rPr lang="en-US" altLang="en-US" sz="2800" dirty="0" err="1">
                <a:solidFill>
                  <a:schemeClr val="bg1"/>
                </a:solidFill>
              </a:rPr>
              <a:t>css</a:t>
            </a:r>
            <a:r>
              <a:rPr lang="en-US" altLang="en-US" sz="2800" dirty="0">
                <a:solidFill>
                  <a:schemeClr val="bg1"/>
                </a:solidFill>
              </a:rPr>
              <a:t>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</a:rPr>
              <a:t>Backend: Python, Django</a:t>
            </a:r>
            <a:endParaRPr lang="zh-CN" altLang="en-US" sz="2800" dirty="0"/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</a:rPr>
              <a:t>AI &amp; ML: OpenCV , TensorFlow , Media Pipe  ,Yolo</a:t>
            </a:r>
            <a:endParaRPr lang="zh-CN" altLang="en-US" sz="2800" dirty="0"/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</a:rPr>
              <a:t>Database: MySQL, SQLite3 </a:t>
            </a:r>
            <a:endParaRPr lang="zh-CN" altLang="en-US" sz="2800" dirty="0"/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</a:rPr>
              <a:t>Cloud: AWS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</a:rPr>
              <a:t>Security: Browser Lockdown APIs</a:t>
            </a:r>
          </a:p>
          <a:p>
            <a:endParaRPr lang="en-US" sz="2800" b="1" dirty="0">
              <a:solidFill>
                <a:srgbClr val="FFFFFF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E6C5633-872B-A53C-5CA4-7EF271262E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0" t="2639" r="13010" b="52916"/>
          <a:stretch>
            <a:fillRect/>
          </a:stretch>
        </p:blipFill>
        <p:spPr>
          <a:xfrm>
            <a:off x="7755870" y="2681790"/>
            <a:ext cx="9998730" cy="680185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874B6B9-8033-F659-C101-80B2C1F010DB}"/>
              </a:ext>
            </a:extLst>
          </p:cNvPr>
          <p:cNvSpPr txBox="1"/>
          <p:nvPr/>
        </p:nvSpPr>
        <p:spPr>
          <a:xfrm>
            <a:off x="245130" y="2247900"/>
            <a:ext cx="92029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Wingdings" panose="05000000000000000000" pitchFamily="2" charset="2"/>
              <a:buChar char="v"/>
            </a:pPr>
            <a:r>
              <a:rPr lang="en-US" sz="4800" dirty="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Technology used :</a:t>
            </a:r>
            <a:endParaRPr lang="en-IN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846626" y="133531"/>
            <a:ext cx="8594747" cy="91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FF48"/>
                </a:solidFill>
                <a:latin typeface="Cristik"/>
                <a:ea typeface="Cristik"/>
                <a:cs typeface="Cristik"/>
                <a:sym typeface="Cristik"/>
              </a:rPr>
              <a:t>Constraints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2171" y="2623851"/>
            <a:ext cx="16723659" cy="1335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ts val="5511"/>
              </a:lnSpc>
              <a:buFont typeface="Wingdings" panose="05000000000000000000" pitchFamily="2" charset="2"/>
              <a:buChar char="v"/>
            </a:pPr>
            <a:r>
              <a:rPr lang="en-US" sz="3936" dirty="0">
                <a:solidFill>
                  <a:srgbClr val="20F15C"/>
                </a:solidFill>
                <a:latin typeface="Retropix"/>
                <a:ea typeface="Retropix"/>
                <a:cs typeface="Retropix"/>
                <a:sym typeface="Retropix"/>
              </a:rPr>
              <a:t> </a:t>
            </a:r>
            <a:r>
              <a:rPr lang="en-US" sz="4800" dirty="0">
                <a:solidFill>
                  <a:srgbClr val="20F15C"/>
                </a:solidFill>
                <a:latin typeface="Retropix"/>
                <a:ea typeface="Retropix"/>
                <a:cs typeface="Retropix"/>
                <a:sym typeface="Retropix"/>
              </a:rPr>
              <a:t>CHALLENGES</a:t>
            </a:r>
            <a:r>
              <a:rPr lang="en-US" sz="3936" dirty="0">
                <a:solidFill>
                  <a:srgbClr val="20F15C"/>
                </a:solidFill>
                <a:latin typeface="Retropix"/>
                <a:ea typeface="Retropix"/>
                <a:cs typeface="Retropix"/>
                <a:sym typeface="Retropix"/>
              </a:rPr>
              <a:t> </a:t>
            </a:r>
          </a:p>
          <a:p>
            <a:pPr algn="l">
              <a:lnSpc>
                <a:spcPts val="5511"/>
              </a:lnSpc>
            </a:pPr>
            <a:endParaRPr lang="en-US" sz="3936" dirty="0">
              <a:solidFill>
                <a:srgbClr val="20F15C"/>
              </a:solidFill>
              <a:latin typeface="Retropix"/>
              <a:ea typeface="Retropix"/>
              <a:cs typeface="Retropix"/>
              <a:sym typeface="Retropix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587292" y="49588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90600" y="4152900"/>
            <a:ext cx="112014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</a:rPr>
              <a:t> Network Connectivity Issues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bg1"/>
                </a:solidFill>
              </a:rPr>
              <a:t>Challenge</a:t>
            </a:r>
            <a:r>
              <a:rPr lang="en-US" altLang="en-US" sz="2800" dirty="0">
                <a:solidFill>
                  <a:schemeClr val="bg1"/>
                </a:solidFill>
              </a:rPr>
              <a:t>: Unstable internet may interrupt monitoring or session flow.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bg1"/>
                </a:solidFill>
              </a:rPr>
              <a:t>Strategy</a:t>
            </a:r>
            <a:r>
              <a:rPr lang="en-US" altLang="en-US" sz="2800" dirty="0">
                <a:solidFill>
                  <a:schemeClr val="bg1"/>
                </a:solidFill>
              </a:rPr>
              <a:t>: Provide auto‑reconnect and session resume support.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</a:rPr>
              <a:t> Limited Login Attempts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 err="1">
                <a:solidFill>
                  <a:schemeClr val="bg1"/>
                </a:solidFill>
              </a:rPr>
              <a:t>challengs</a:t>
            </a:r>
            <a:r>
              <a:rPr lang="en-US" altLang="en-US" sz="2800" dirty="0">
                <a:solidFill>
                  <a:schemeClr val="bg1"/>
                </a:solidFill>
              </a:rPr>
              <a:t>: Users may face issues if login attempts are restricted.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bg1"/>
                </a:solidFill>
              </a:rPr>
              <a:t>Strategy</a:t>
            </a:r>
            <a:r>
              <a:rPr lang="en-US" altLang="en-US" sz="2800" dirty="0">
                <a:solidFill>
                  <a:schemeClr val="bg1"/>
                </a:solidFill>
              </a:rPr>
              <a:t>: Allow 2–3 secure login attempts with OTP or verification.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FFFF"/>
                </a:solidFill>
              </a:rPr>
              <a:t> Time‑Bound Access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</a:rPr>
              <a:t>Challenge</a:t>
            </a:r>
            <a:r>
              <a:rPr lang="en-US" sz="2800" dirty="0">
                <a:solidFill>
                  <a:srgbClr val="FFFFFF"/>
                </a:solidFill>
              </a:rPr>
              <a:t>: Late login or repeated refresh may cause access issues.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FFFFFF"/>
                </a:solidFill>
              </a:rPr>
              <a:t>Strategy</a:t>
            </a:r>
            <a:r>
              <a:rPr lang="en-US" sz="2800" dirty="0">
                <a:solidFill>
                  <a:srgbClr val="FFFFFF"/>
                </a:solidFill>
              </a:rPr>
              <a:t>: Allow limited retries within a defined time window.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6EA370-C6B4-9422-B0F5-9637ED4EB1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760" y="3162300"/>
            <a:ext cx="5572069" cy="563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536</Words>
  <Application>Microsoft Office PowerPoint</Application>
  <PresentationFormat>Custom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Cristik</vt:lpstr>
      <vt:lpstr>Basis33</vt:lpstr>
      <vt:lpstr>Retropix</vt:lpstr>
      <vt:lpstr>Calibri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Suresh</dc:creator>
  <cp:lastModifiedBy>shivraj talwar</cp:lastModifiedBy>
  <cp:revision>19</cp:revision>
  <dcterms:created xsi:type="dcterms:W3CDTF">2006-08-16T00:00:00Z</dcterms:created>
  <dcterms:modified xsi:type="dcterms:W3CDTF">2026-01-27T15:27:22Z</dcterms:modified>
  <dc:identifier>DAG6lH0pn8k</dc:identifier>
</cp:coreProperties>
</file>